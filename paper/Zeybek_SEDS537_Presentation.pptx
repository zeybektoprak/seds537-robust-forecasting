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Time-Series Forecasting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Noise and Anomaly Injection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645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 ·  Vanilla RNN  ·  Stacked LSTM  ·  Temporal Transformer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Jena Climate Dataset  |  Gaussian Noise + Point Anomaly Study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Zeybek  |  ID: 323011022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SEDS 537 Machine Learning  ·  Izmir Institute of Technology  ·  Spring 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Dr. Aytug Onan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Robustness Matters?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sensors are never perfect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Problem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4447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clean data but deployed in noisy environments. Sensor faults, transmission errors, and measurement noise are ubiquitous.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0584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The 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3752" y="144475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benchmarks evaluate on clean test sets. Robustness to corrupted inputs is largely unknown.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74320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Our Approach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18211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 models on clean data, then systematically corrupt only the test inputs. Measure how accuracy degrades.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1148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4320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Hypothesis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318211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Transformer's global self-attention can 'outvote' corrupted positions. RNN/LSTM propagate corruption forward through hidden state.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Jena Climate Dataset — 4 models — 2 corruption types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784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886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Jena Climate 2009–2016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atmospheric variables, 10-min intervals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Subsampled to hourly (70,091 rows)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Air Temperature T (°C)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70% train / 15% val / 15% test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W = 120 hours (5 days)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 H = 1 step ahead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normalisation (train stats only)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784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Corruption 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463040"/>
            <a:ext cx="384048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801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x + ε,   ε ~ N(0, σ²)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∈ {0, 0.25, 0.5, 1.0, 2.0}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6334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1.0 → noise std = data std (severe)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3063240"/>
            <a:ext cx="3840480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Anomaly Injection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4015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fraction of positions → N(0, 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∈ {0, 0.01, 0.05, 0.10, 0.20}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4206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CLEAN data only!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What the Model Sees &amp; Predicts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from the Jena Climate test 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5029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78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 —  Last 120 hours (5 days)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444752"/>
          <a:ext cx="4828032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1060704"/>
                <a:gridCol w="1060704"/>
                <a:gridCol w="106070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t-120 (5d ago)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t-60 (2.5d ago)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 (1h ago)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(°C) ←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(mbar)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996.52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 (%)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wv (m/s)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9 more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84048" y="345643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Shape after preprocessing:  (120 steps  ×  13 features)  =  1,560 numbers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374904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values z-score normalised using training statistics only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4048" y="4041648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Window slides by 1 hour each time  (10,394 test windows total)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0" y="960120"/>
            <a:ext cx="33832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0" y="960120"/>
            <a:ext cx="338328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96128" y="978408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  —  Next hour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96128" y="1481328"/>
            <a:ext cx="3163824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87568" y="15361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87568" y="179222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5.21 °C  →  normalised: 0.41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96128" y="2651760"/>
            <a:ext cx="316382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96128" y="2651760"/>
            <a:ext cx="54864" cy="566928"/>
          </a:xfrm>
          <a:prstGeom prst="rect">
            <a:avLst/>
          </a:prstGeom>
          <a:solidFill>
            <a:srgbClr val="EE854A"/>
          </a:solidFill>
          <a:ln w="12700">
            <a:solidFill>
              <a:srgbClr val="EE85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05856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05856" y="29352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0.38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14032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|err| = 0.03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96128" y="3310128"/>
            <a:ext cx="316382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596128" y="3310128"/>
            <a:ext cx="54864" cy="566928"/>
          </a:xfrm>
          <a:prstGeom prst="rect">
            <a:avLst/>
          </a:prstGeom>
          <a:solidFill>
            <a:srgbClr val="6ACC65"/>
          </a:solidFill>
          <a:ln w="12700">
            <a:solidFill>
              <a:srgbClr val="6ACC6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05856" y="3346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705856" y="3593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0.40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14032" y="3474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|err| = 0.01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596128" y="3968496"/>
            <a:ext cx="316382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96128" y="3968496"/>
            <a:ext cx="54864" cy="566928"/>
          </a:xfrm>
          <a:prstGeom prst="rect">
            <a:avLst/>
          </a:prstGeom>
          <a:solidFill>
            <a:srgbClr val="D65F5F"/>
          </a:solidFill>
          <a:ln w="12700">
            <a:solidFill>
              <a:srgbClr val="D65F5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05856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705856" y="4251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0.39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114032" y="4133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|err| = 0.02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96128" y="462686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sample. We do this for 10,394 test windows.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 Compared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Baselines + 1 Proposed 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2029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029968" cy="73152"/>
          </a:xfrm>
          <a:prstGeom prst="rect">
            <a:avLst/>
          </a:prstGeom>
          <a:solidFill>
            <a:srgbClr val="4878D0"/>
          </a:solidFill>
          <a:ln w="12700">
            <a:solidFill>
              <a:srgbClr val="487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124712"/>
            <a:ext cx="1810512" cy="274320"/>
          </a:xfrm>
          <a:prstGeom prst="rect">
            <a:avLst/>
          </a:prstGeom>
          <a:solidFill>
            <a:srgbClr val="4878D0">
              <a:alpha val="15000"/>
            </a:srgbClr>
          </a:solidFill>
          <a:ln w="12700">
            <a:solidFill>
              <a:srgbClr val="4878D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463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1965960"/>
            <a:ext cx="15727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5740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ARIMA(5,1,0) fitted on last 2,000 training rows. Generative model — does NOT consume test input. Trivially robust to corruption but ignores multivariate context.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4572000"/>
            <a:ext cx="1810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45720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0592" y="960120"/>
            <a:ext cx="2029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960120"/>
            <a:ext cx="2029968" cy="73152"/>
          </a:xfrm>
          <a:prstGeom prst="rect">
            <a:avLst/>
          </a:prstGeom>
          <a:solidFill>
            <a:srgbClr val="EE854A"/>
          </a:solidFill>
          <a:ln w="12700">
            <a:solidFill>
              <a:srgbClr val="EE85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124712"/>
            <a:ext cx="1810512" cy="274320"/>
          </a:xfrm>
          <a:prstGeom prst="rect">
            <a:avLst/>
          </a:prstGeom>
          <a:solidFill>
            <a:srgbClr val="EE854A">
              <a:alpha val="15000"/>
            </a:srgbClr>
          </a:solidFill>
          <a:ln w="12700">
            <a:solidFill>
              <a:srgbClr val="EE854A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133856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E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1463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679192" y="1965960"/>
            <a:ext cx="15727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05740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RNN, 64 hidden units. Final hidden state → scalar. Sequential processing: corrupted step propagates forward in hidden state.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4572000"/>
            <a:ext cx="1810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45720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~7K params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960120"/>
            <a:ext cx="2029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960120"/>
            <a:ext cx="2029968" cy="73152"/>
          </a:xfrm>
          <a:prstGeom prst="rect">
            <a:avLst/>
          </a:prstGeom>
          <a:solidFill>
            <a:srgbClr val="6ACC65"/>
          </a:solidFill>
          <a:ln w="12700">
            <a:solidFill>
              <a:srgbClr val="6ACC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1124712"/>
            <a:ext cx="1810512" cy="274320"/>
          </a:xfrm>
          <a:prstGeom prst="rect">
            <a:avLst/>
          </a:prstGeom>
          <a:solidFill>
            <a:srgbClr val="6ACC65">
              <a:alpha val="15000"/>
            </a:srgbClr>
          </a:solidFill>
          <a:ln w="12700">
            <a:solidFill>
              <a:srgbClr val="6ACC65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133856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36592" y="1463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LSTM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855464" y="1965960"/>
            <a:ext cx="15727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05740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LSTM, 128 units, dropout = 0.2. MC-Dropout: 50 forward passes at inference → predictive uncertainty signal.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36592" y="4572000"/>
            <a:ext cx="1810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45720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~200K params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03136" y="960120"/>
            <a:ext cx="2029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960120"/>
            <a:ext cx="2029968" cy="73152"/>
          </a:xfrm>
          <a:prstGeom prst="rect">
            <a:avLst/>
          </a:prstGeom>
          <a:solidFill>
            <a:srgbClr val="D65F5F"/>
          </a:solidFill>
          <a:ln w="12700">
            <a:solidFill>
              <a:srgbClr val="D65F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2864" y="1124712"/>
            <a:ext cx="1810512" cy="274320"/>
          </a:xfrm>
          <a:prstGeom prst="rect">
            <a:avLst/>
          </a:prstGeom>
          <a:solidFill>
            <a:srgbClr val="D65F5F">
              <a:alpha val="15000"/>
            </a:srgbClr>
          </a:solidFill>
          <a:ln w="12700">
            <a:solidFill>
              <a:srgbClr val="D65F5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12864" y="1133856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12864" y="14630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031736" y="1965960"/>
            <a:ext cx="15727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2057400"/>
            <a:ext cx="1810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encoder layers, 4 attention heads, d_model=64, sinusoidal PE. Global attention dilutes corrupted positions — the core robustness hypothesis.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12864" y="4572000"/>
            <a:ext cx="181051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457200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 params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 Set — Baseline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and evaluated on unmodified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029968" cy="64008"/>
          </a:xfrm>
          <a:prstGeom prst="rect">
            <a:avLst/>
          </a:prstGeom>
          <a:solidFill>
            <a:srgbClr val="6ACC65"/>
          </a:solidFill>
          <a:ln w="12700">
            <a:solidFill>
              <a:srgbClr val="6ACC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1764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MAE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96012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60120"/>
            <a:ext cx="2029968" cy="64008"/>
          </a:xfrm>
          <a:prstGeom prst="rect">
            <a:avLst/>
          </a:prstGeom>
          <a:solidFill>
            <a:srgbClr val="D65F5F"/>
          </a:solidFill>
          <a:ln w="12700">
            <a:solidFill>
              <a:srgbClr val="D6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9728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0.0824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42032" y="1764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 RMSE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960120"/>
            <a:ext cx="2029968" cy="64008"/>
          </a:xfrm>
          <a:prstGeom prst="rect">
            <a:avLst/>
          </a:prstGeom>
          <a:solidFill>
            <a:srgbClr val="D65F5F"/>
          </a:solidFill>
          <a:ln w="12700">
            <a:solidFill>
              <a:srgbClr val="D6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09728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18304" y="1764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 MAPE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20299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60120"/>
            <a:ext cx="20299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09728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94576" y="1764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vs ARIMA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14600"/>
          <a:ext cx="8595360" cy="233172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RNN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models outperform ARIMA by ~14× on MAE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Gaussian Noise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increases from 0 (clean) to 2.0 (noise std = data std × 2)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pic>
        <p:nvPicPr>
          <p:cNvPr id="7" name="Image 0" descr="/Users/toprakzeybek/Desktop/TermProject/seds537-robust-forecasting/results/figures/mae_vs_gaussian_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12064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100584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005840"/>
            <a:ext cx="64008" cy="658368"/>
          </a:xfrm>
          <a:prstGeom prst="rect">
            <a:avLst/>
          </a:prstGeom>
          <a:solidFill>
            <a:srgbClr val="4878D0"/>
          </a:solidFill>
          <a:ln w="12700">
            <a:solidFill>
              <a:srgbClr val="4878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1051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ARIMA: flat curve (ignores test input) — input-immune but 14× worse on clean data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755648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755648"/>
            <a:ext cx="64008" cy="658368"/>
          </a:xfrm>
          <a:prstGeom prst="rect">
            <a:avLst/>
          </a:prstGeom>
          <a:solidFill>
            <a:srgbClr val="EE854A"/>
          </a:solidFill>
          <a:ln w="12700">
            <a:solidFill>
              <a:srgbClr val="EE85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18013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degrades fastest: +1,183% MAE at σ=2.0 — sequential hidden state corruption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505456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505456"/>
            <a:ext cx="64008" cy="658368"/>
          </a:xfrm>
          <a:prstGeom prst="rect">
            <a:avLst/>
          </a:prstGeom>
          <a:solidFill>
            <a:srgbClr val="D65F5F"/>
          </a:solidFill>
          <a:ln w="12700">
            <a:solidFill>
              <a:srgbClr val="D65F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5511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most robust at σ ≤ 0.5 — attention dilutes localised corruptions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255264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255264"/>
            <a:ext cx="64008" cy="658368"/>
          </a:xfrm>
          <a:prstGeom prst="rect">
            <a:avLst/>
          </a:prstGeom>
          <a:solidFill>
            <a:srgbClr val="6ACC65"/>
          </a:solidFill>
          <a:ln w="12700">
            <a:solidFill>
              <a:srgbClr val="6ACC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300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overtakes Transformer at σ ≥ 1.0 — gating mechanism filters extreme noise better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13632"/>
          <a:ext cx="5120640" cy="105156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σ=0.25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σ=0.5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σ=2.0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Point Anomalies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positions replaced with extreme outliers N(0, 25)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pic>
        <p:nvPicPr>
          <p:cNvPr id="7" name="Image 0" descr="/Users/toprakzeybek/Desktop/TermProject/seds537-robust-forecasting/results/figures/mae_vs_anomaly_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12064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100584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005840"/>
            <a:ext cx="64008" cy="658368"/>
          </a:xfrm>
          <a:prstGeom prst="rect">
            <a:avLst/>
          </a:prstGeom>
          <a:solidFill>
            <a:srgbClr val="D65F5F"/>
          </a:solidFill>
          <a:ln w="12700">
            <a:solidFill>
              <a:srgbClr val="D65F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1051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leads at r ≤ 5%: attention downweights isolated outliers effectively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755648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755648"/>
            <a:ext cx="64008" cy="658368"/>
          </a:xfrm>
          <a:prstGeom prst="rect">
            <a:avLst/>
          </a:prstGeom>
          <a:solidFill>
            <a:srgbClr val="6ACC65"/>
          </a:solidFill>
          <a:ln w="12700">
            <a:solidFill>
              <a:srgbClr val="6ACC6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0" y="18013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competitive at r ≥ 10%: gating provides better heavy-outlier filtering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505456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505456"/>
            <a:ext cx="64008" cy="658368"/>
          </a:xfrm>
          <a:prstGeom prst="rect">
            <a:avLst/>
          </a:prstGeom>
          <a:solidFill>
            <a:srgbClr val="EE854A"/>
          </a:solidFill>
          <a:ln w="12700">
            <a:solidFill>
              <a:srgbClr val="EE85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5511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most vulnerable: at r=20% nearly matches ARIMA (0.822 vs 0.877)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255264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255264"/>
            <a:ext cx="64008" cy="658368"/>
          </a:xfrm>
          <a:prstGeom prst="rect">
            <a:avLst/>
          </a:prstGeom>
          <a:solidFill>
            <a:srgbClr val="4878D0"/>
          </a:solidFill>
          <a:ln w="12700">
            <a:solidFill>
              <a:srgbClr val="4878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3009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ARIMA: again flat — trivially immune but cannot exploit multivariate context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13632"/>
          <a:ext cx="5120640" cy="1051560"/>
        </p:xfrm>
        <a:graphic>
          <a:graphicData uri="http://schemas.openxmlformats.org/drawingml/2006/table">
            <a:tbl>
              <a:tblPr/>
              <a:tblGrid>
                <a:gridCol w="1737360"/>
                <a:gridCol w="1097280"/>
                <a:gridCol w="109728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as a Data-Quality Detector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50 forward passes with dropout active → predictive std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pic>
        <p:nvPicPr>
          <p:cNvPr id="7" name="Image 0" descr="/Users/toprakzeybek/Desktop/TermProject/seds537-robust-forecasting/results/figures/mc_dropout_b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30352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 set: LSTM mean ± 2σ uncertainty bands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0" y="960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MC-Dropout Std vs. Corruption Level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3200400" cy="82296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715000" y="2331720"/>
            <a:ext cx="3200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15000" y="2331720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33872" y="23865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INCREASES monotonically with corruption severity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715000" y="2953512"/>
            <a:ext cx="3200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15000" y="2953512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33872" y="300837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labelled anomaly data — zero extra cost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715000" y="3575304"/>
            <a:ext cx="3200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15000" y="3575304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33872" y="363016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use: if MC-std &gt; threshold → flag forecast as unreliable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715000" y="4197096"/>
            <a:ext cx="320040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15000" y="4197096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33872" y="425196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trigger fallback to ARIMA (immune model) when activated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Transformer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design choices contribute to robustness?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46888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  <a:gridCol w="12801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σ=0.5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σ=1.0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 (proposed)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positional enc.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encoder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d_model =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11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3611880"/>
            <a:ext cx="2743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703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Positional encoding is #1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4048" y="400507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PE → +30% MAE on clean, worst robustness. Temporal ordering is critical for weather.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72968" y="3611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72968" y="361188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82696" y="3703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Dropout = robustness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82696" y="400507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dropout wins on clean (0.0618) but collapses under noise (0.3158). Dropout prevents overfitting corruption.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71616" y="361188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71616" y="361188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81344" y="370332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Smaller can be better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81344" y="4005072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d_model=32 beats full model under corruption! Smaller models generalize better to noisy inputs.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— When Do Models Fail?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04088"/>
            <a:ext cx="384048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640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cases: error distribution, temporal pattern, clean vs corrupted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pic>
        <p:nvPicPr>
          <p:cNvPr id="7" name="Image 0" descr="/Users/toprakzeybek/Desktop/TermProject/seds537-robust-forecasting/results/figures/error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530352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38328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distributions: right-skewed, most predictions accurate (median |e| ≈ 0.043)</a:t>
            </a:r>
            <a:endParaRPr lang="en-US" sz="900" dirty="0"/>
          </a:p>
        </p:txBody>
      </p:sp>
      <p:pic>
        <p:nvPicPr>
          <p:cNvPr id="9" name="Image 1" descr="/Users/toprakzeybek/Desktop/TermProject/seds537-robust-forecasting/results/figures/clean_vs_corrupted_m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39312"/>
            <a:ext cx="5303520" cy="137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60720" y="1005840"/>
            <a:ext cx="3154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100584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88736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Predictions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888736" y="138988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at temperature turning points — rapid direction changes after plateaus. All models share this failure mode.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760720" y="2359152"/>
            <a:ext cx="3154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0720" y="2359152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88736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888736" y="2743200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broadly stable across test set. Slight increase (~10%) at end — possible seasonality mismatch.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760720" y="3712464"/>
            <a:ext cx="3154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0720" y="3712464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88736" y="3803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Error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888736" y="409651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RNN: 0.1315 | LSTM: 0.1296 | Transformer: 0.1264. Transformer has most concentrated tail.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20116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457200" cy="566928"/>
          </a:xfrm>
          <a:prstGeom prst="rect">
            <a:avLst/>
          </a:prstGeom>
          <a:solidFill>
            <a:srgbClr val="6ACC65">
              <a:alpha val="80000"/>
            </a:srgbClr>
          </a:solidFill>
          <a:ln w="12700">
            <a:solidFill>
              <a:srgbClr val="6ACC65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neural models achieve MAE ≈ 0.06 on clean data — ~14× better than ARIMA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709928"/>
            <a:ext cx="457200" cy="566928"/>
          </a:xfrm>
          <a:prstGeom prst="rect">
            <a:avLst/>
          </a:prstGeom>
          <a:solidFill>
            <a:srgbClr val="D65F5F">
              <a:alpha val="80000"/>
            </a:srgbClr>
          </a:solidFill>
          <a:ln w="12700">
            <a:solidFill>
              <a:srgbClr val="D65F5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99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8013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is most robust under LOW-TO-MODERATE corruption (σ ≤ 0.5, r ≤ 5%)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59736"/>
            <a:ext cx="457200" cy="566928"/>
          </a:xfrm>
          <a:prstGeom prst="rect">
            <a:avLst/>
          </a:prstGeom>
          <a:solidFill>
            <a:srgbClr val="6ACC65">
              <a:alpha val="80000"/>
            </a:srgbClr>
          </a:solidFill>
          <a:ln w="12700">
            <a:solidFill>
              <a:srgbClr val="6ACC65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973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CC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5511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gating outperforms Transformer under HEAVY corruption (σ ≥ 1.0, r ≥ 10%)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457200" cy="566928"/>
          </a:xfrm>
          <a:prstGeom prst="rect">
            <a:avLst/>
          </a:prstGeom>
          <a:solidFill>
            <a:srgbClr val="93C5FD">
              <a:alpha val="80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95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3009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uncertainty increases with corruption — useful as data-quality indicator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59352"/>
            <a:ext cx="457200" cy="566928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5935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0507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is the most critical Transformer component for robustness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attention-based anomaly masking · adversarial training · multi-step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Toprak Zeybek  |  323011022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SEDS 537 Machine Learning  ·  Spring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Izmir Institute of Technology  ·  Prof. Dr. Aytug Onan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356616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566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80360" y="356616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3566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Corruption Types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566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Figures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6520" y="3566160"/>
            <a:ext cx="155448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661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Time-Series Forecasting – SEDS 537</dc:title>
  <dc:subject>PptxGenJS Presentation</dc:subject>
  <dc:creator>Toprak Zeybek</dc:creator>
  <cp:lastModifiedBy>Toprak Zeybek</cp:lastModifiedBy>
  <cp:revision>1</cp:revision>
  <dcterms:created xsi:type="dcterms:W3CDTF">2026-06-01T13:21:10Z</dcterms:created>
  <dcterms:modified xsi:type="dcterms:W3CDTF">2026-06-01T13:21:10Z</dcterms:modified>
</cp:coreProperties>
</file>